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2" r:id="rId3"/>
    <p:sldId id="264" r:id="rId4"/>
    <p:sldId id="265" r:id="rId5"/>
    <p:sldId id="272" r:id="rId6"/>
    <p:sldId id="269" r:id="rId7"/>
    <p:sldId id="267" r:id="rId8"/>
    <p:sldId id="266" r:id="rId9"/>
    <p:sldId id="270" r:id="rId10"/>
    <p:sldId id="271" r:id="rId11"/>
    <p:sldId id="273" r:id="rId12"/>
    <p:sldId id="274" r:id="rId13"/>
    <p:sldId id="275" r:id="rId14"/>
    <p:sldId id="278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04"/>
    <p:restoredTop sz="90311"/>
  </p:normalViewPr>
  <p:slideViewPr>
    <p:cSldViewPr snapToGrid="0">
      <p:cViewPr>
        <p:scale>
          <a:sx n="157" d="100"/>
          <a:sy n="157" d="100"/>
        </p:scale>
        <p:origin x="6720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8DE0B-41CD-CD43-9D5A-12D6958633A8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758C7-0131-CB48-B8ED-A31F33278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1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D9A043FB-90FE-B66C-84D5-97A200F65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FFF081B-06AD-5E80-A619-7EEED0A62B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96D80828-C52B-58AB-E461-3E760B7C69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4941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EE6170FA-12E0-40AA-4EEA-AD7B1750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2D6A787-A316-02DB-D8A7-400A5313A4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AE3238BA-A192-C8E8-51D7-7C801F748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0197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6847AE1-27DF-4383-A7AE-38F8FAE0E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84C24B1-72F8-9907-7D27-C2413D5723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98724022-9CEC-C8CC-1B39-B48536E935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9389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8787F9AD-F115-0790-AAEF-BE841431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9071E90-270E-56A8-FDFF-02BF10FC3E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55F09AA-901F-37E6-B35E-48D527EFB1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925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2381EE3D-5B11-A17C-82C4-536D50ED3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BB45C442-9A2F-6ECE-DAD6-7920DFB06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6FBC549-93D7-A365-A694-57EDA09B4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3015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E2A2D2A7-114D-06A5-DEEB-5BCA10DF4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CCF0AAB-87ED-EE7B-6352-DE79B96468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5D6A1C7C-0E68-BBCF-639F-19D1854690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6526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F71964FD-AE69-2421-5F59-53157A837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BD7EA620-4AB7-9849-73A7-D4C0AABA99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C2494AC7-0666-5D1B-7F6B-5BE747D3C1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569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D931CAA-4172-9242-F590-B1D40C08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E086F240-4FC5-9F39-F9A6-CC470B71E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9566C7C-7D86-6655-5876-4EE9F7C32C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5995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8C76C7DB-9CC0-DBFB-AE63-9B19B8B39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FE7F3A1-DACF-496F-E6B2-B4384949B7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4F7B30B2-AB68-1AC7-1636-4F33541CF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2172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039F215C-5A89-71BE-5CC5-DB050FA5B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2D643C3-7F19-E730-3CB5-BFFE6A3C79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90E2F2E1-7251-EC08-916E-FDC5F753C0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168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363BB130-6AA5-1F27-5296-6BFDF2BD2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0890F894-3667-6771-F017-31D3DD1D8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E8C50264-BBD9-9ADA-1AA4-5D8AEABA1E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8451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F674A641-55D4-6782-F438-BFE1F40B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CDEB381C-F865-B333-40F9-E7871E3D2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1C31BF5-4519-B6FA-3FF2-60973F3C3E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0282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E0055E0C-2359-3173-C383-C8C420A29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C2A3A78-22CB-6B79-58A4-72AA6FAEE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E521613-6E21-5EB9-E4B9-35879070D3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6323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38C317DF-0EB5-3CBA-D888-C0E45D1F4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939BD9A-9928-3087-4FD8-B0A1CDCC84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DB8EEB8C-8308-6CC3-3129-B8CF8E3F11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39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BB3EF-782C-353C-FEB2-543A53412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127085-7DA9-8331-5F7C-E290C86DA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A965E-2391-395B-6DB4-DB61773F0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63204-D62E-7C48-9B4C-A2412651AE19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FCCA5-C449-4081-0251-E442C6BA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84F51-F0F4-B884-067C-ECD8CDEC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32CFD-5F30-7146-AF86-E198AADC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19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1A83-D28A-B760-30B2-2C2D3AAC1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0EC04-D74D-48D7-5BD4-A24E10D66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CBDD4-92B2-B31F-3CCE-086A420D3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63204-D62E-7C48-9B4C-A2412651AE19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83A7D-4CB1-F82A-85DA-88C009CD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25F39-9CC0-B036-58AD-FEAD7105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32CFD-5F30-7146-AF86-E198AADC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30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6A8D2-168B-E26C-B593-A9928D08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86389-1AD0-934A-E89D-0B51F9351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194C4-5862-6F1D-83B4-2C5A893E5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63204-D62E-7C48-9B4C-A2412651AE19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7472C-232A-6D2E-41C6-21E39675D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61FFB-A70A-A419-F3FF-C32A656E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32CFD-5F30-7146-AF86-E198AADC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3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521AC-4094-AF0F-56E5-7E75C4B9D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52BED-48C6-9204-8100-CB89C3AA3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8A8CC-E281-9A4A-2017-937123197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70936-3A98-5821-067D-811FA4F4C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63204-D62E-7C48-9B4C-A2412651AE19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7C5E3-91BC-8B85-38B2-80D58E2D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DE17C-1AE2-0D78-9107-BA608B40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32CFD-5F30-7146-AF86-E198AADC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27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A355D-1C32-3470-F2F0-BE6E6E3A5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4FF54-C849-CDED-FACB-3E09ECAB5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C2678-56DE-907D-DD4B-D7ED243BC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53FCDC-CAFD-BDC3-62E1-4D9194261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3B3B8-B10F-44C0-A093-259950EB83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D19C23-1754-5031-1E3F-6AE1B7D54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63204-D62E-7C48-9B4C-A2412651AE19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D01D25-88D8-9CF8-F0FF-24851C7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8358FF-CAEF-36F2-4E1F-E935DA4F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32CFD-5F30-7146-AF86-E198AADC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08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5B2F-A4D0-573A-D7BB-66E25F9C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BAD2C-A8BC-D50D-3650-11FEDCD5C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63204-D62E-7C48-9B4C-A2412651AE19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E2E23-9D41-A0A0-5D99-1FDC4700F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132CE-843B-6456-2CD4-3A146FEA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32CFD-5F30-7146-AF86-E198AADC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05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D57999-8628-DDDE-2F05-96000264A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63204-D62E-7C48-9B4C-A2412651AE19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6A077B-6BC3-ADFA-B0B5-CCD58B005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179BE-9A67-C132-B522-9E85B5AA5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32CFD-5F30-7146-AF86-E198AADC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14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77B04-7B1B-C77A-DED7-C2930FA30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DA172-B62E-4E4E-E89C-D424ABB57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FC3B3-FE1B-38EB-775F-D712DBD17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4CF2B-D9F9-EECE-81EC-3052443E4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63204-D62E-7C48-9B4C-A2412651AE19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70585-DEDF-9417-D926-EA9EF5031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D4E51-C2FE-2E0F-2E20-FC4198BED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32CFD-5F30-7146-AF86-E198AADC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50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314CD-0F4B-6275-9112-D7AF2241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745883-944E-6D44-FFBD-150A064B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EA00E-8812-DD6C-3CB7-70DC9F4DE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10035-AFD8-8562-FE4A-CF5D5C7E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63204-D62E-7C48-9B4C-A2412651AE19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98995-8A4D-8E72-FC32-F070E9FDA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394B7-F89D-FCE4-A634-D4E18618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32CFD-5F30-7146-AF86-E198AADC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1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2AC3-F4B0-A4E1-5E5B-1A8860658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86611-A055-8E5D-8C45-FCF78CF6B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AC5FB-9EAA-32A0-4B58-54CE91613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63204-D62E-7C48-9B4C-A2412651AE19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7AC16-2069-EF57-B705-79132539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F934F-70C0-D62F-CE3F-36A9A9EB3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32CFD-5F30-7146-AF86-E198AADC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20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6EB85-C3E0-C7D4-D731-7477BF62B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94D520-2988-3114-524B-804CD9B0E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5A624-BE0A-6982-3482-B918E9C9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63204-D62E-7C48-9B4C-A2412651AE19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44A8F-B5AF-8783-81EB-1F4459015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9C760-AAB8-38A9-F60F-D7FD34767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32CFD-5F30-7146-AF86-E198AADC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04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D7403-236E-A575-D107-E93823EEF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81B9E-A167-8D4B-7222-EA63A3998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3904C-15C1-F88C-B589-3DE7D073E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63204-D62E-7C48-9B4C-A2412651AE19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33AE4-9E35-F700-9A40-8A8F2D397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89930-6ECA-2CDE-9518-873D868F5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32CFD-5F30-7146-AF86-E198AADC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8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rotocols.io/view/epi-clone-clonal-tracing-with-somatic-epimutations-4r3l29dzjv1y/v1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8;p1">
            <a:extLst>
              <a:ext uri="{FF2B5EF4-FFF2-40B4-BE49-F238E27FC236}">
                <a16:creationId xmlns:a16="http://schemas.microsoft.com/office/drawing/2014/main" id="{0310069A-F99D-8EDD-6792-3918C9D23314}"/>
              </a:ext>
            </a:extLst>
          </p:cNvPr>
          <p:cNvSpPr txBox="1"/>
          <p:nvPr/>
        </p:nvSpPr>
        <p:spPr>
          <a:xfrm>
            <a:off x="0" y="2512583"/>
            <a:ext cx="121920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Coorens</a:t>
            </a:r>
            <a:r>
              <a:rPr lang="en-GB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-Behjati</a:t>
            </a:r>
            <a:r>
              <a:rPr lang="en-GB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lab meeting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-IT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GB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r>
              <a:rPr lang="en-IT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/202</a:t>
            </a:r>
            <a:r>
              <a:rPr lang="en-GB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2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89;p1">
            <a:extLst>
              <a:ext uri="{FF2B5EF4-FFF2-40B4-BE49-F238E27FC236}">
                <a16:creationId xmlns:a16="http://schemas.microsoft.com/office/drawing/2014/main" id="{8848AC69-4139-35C2-8886-B7B230BAD7C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25725" y="4027573"/>
            <a:ext cx="2740550" cy="847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937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F577BBEC-F363-AE91-89B7-26A781A0C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>
            <a:extLst>
              <a:ext uri="{FF2B5EF4-FFF2-40B4-BE49-F238E27FC236}">
                <a16:creationId xmlns:a16="http://schemas.microsoft.com/office/drawing/2014/main" id="{352214B4-309A-4751-BA90-A90F4D779048}"/>
              </a:ext>
            </a:extLst>
          </p:cNvPr>
          <p:cNvCxnSpPr/>
          <p:nvPr/>
        </p:nvCxnSpPr>
        <p:spPr>
          <a:xfrm>
            <a:off x="445168" y="733924"/>
            <a:ext cx="111292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03B2079C-B2EF-D4D6-6C31-6403DD18D380}"/>
              </a:ext>
            </a:extLst>
          </p:cNvPr>
          <p:cNvSpPr txBox="1"/>
          <p:nvPr/>
        </p:nvSpPr>
        <p:spPr>
          <a:xfrm>
            <a:off x="340207" y="293384"/>
            <a:ext cx="1170782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Embryo project: fix (minor, but annoying…) problems with old soft cosine similarity distances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0DD05-F5E2-FB93-92D1-F3BA0F079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17" y="1508311"/>
            <a:ext cx="4325471" cy="43254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43FCD6-CAAD-E495-DB09-9B6522B56309}"/>
                  </a:ext>
                </a:extLst>
              </p:cNvPr>
              <p:cNvSpPr txBox="1"/>
              <p:nvPr/>
            </p:nvSpPr>
            <p:spPr>
              <a:xfrm>
                <a:off x="5733093" y="1396797"/>
                <a:ext cx="5841286" cy="3161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Manas’ distance matrices were not symmetric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Computers can be annoying (with low VAF values)…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New implementation of soft cosine distance between sample mutations profiles (log-transformed VAF)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742950" lvl="1" indent="-285750">
                  <a:buFont typeface="Wingdings" pitchFamily="2" charset="2"/>
                  <a:buChar char="v"/>
                </a:pPr>
                <a:r>
                  <a:rPr lang="en-US" dirty="0"/>
                  <a:t>All values clipped in [0-1] and rounded at 6 decimals </a:t>
                </a:r>
                <a:r>
                  <a:rPr lang="en-US" dirty="0">
                    <a:sym typeface="Wingdings" pitchFamily="2" charset="2"/>
                  </a:rPr>
                  <a:t> e</a:t>
                </a:r>
                <a:r>
                  <a:rPr lang="en-US" dirty="0"/>
                  <a:t>nforce symmetry: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742950" lvl="1" indent="-285750">
                  <a:buFont typeface="Wingdings" pitchFamily="2" charset="2"/>
                  <a:buChar char="v"/>
                </a:pPr>
                <a:r>
                  <a:rPr lang="en-US" dirty="0"/>
                  <a:t>Row-wise rescaling (all cell-cell distances re-scaled between 0-1)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43FCD6-CAAD-E495-DB09-9B6522B56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093" y="1396797"/>
                <a:ext cx="5841286" cy="3161635"/>
              </a:xfrm>
              <a:prstGeom prst="rect">
                <a:avLst/>
              </a:prstGeom>
              <a:blipFill>
                <a:blip r:embed="rId4"/>
                <a:stretch>
                  <a:fillRect l="-651" t="-398" b="-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1440AF4-A295-0AEA-B5FC-5DC46102D6A7}"/>
              </a:ext>
            </a:extLst>
          </p:cNvPr>
          <p:cNvSpPr txBox="1"/>
          <p:nvPr/>
        </p:nvSpPr>
        <p:spPr>
          <a:xfrm>
            <a:off x="5733093" y="4787787"/>
            <a:ext cx="5841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values are almost perfectly correlated to old ones (just cleaning up the mess of numerical approximation and re-scale to make distances differences bigger and comparable for clustering)</a:t>
            </a:r>
          </a:p>
        </p:txBody>
      </p:sp>
    </p:spTree>
    <p:extLst>
      <p:ext uri="{BB962C8B-B14F-4D97-AF65-F5344CB8AC3E}">
        <p14:creationId xmlns:p14="http://schemas.microsoft.com/office/powerpoint/2010/main" val="854419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2DEC679E-7EA6-307C-481C-688011AF6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>
            <a:extLst>
              <a:ext uri="{FF2B5EF4-FFF2-40B4-BE49-F238E27FC236}">
                <a16:creationId xmlns:a16="http://schemas.microsoft.com/office/drawing/2014/main" id="{9D629F6D-6947-05F0-E6FC-980045D153A5}"/>
              </a:ext>
            </a:extLst>
          </p:cNvPr>
          <p:cNvCxnSpPr/>
          <p:nvPr/>
        </p:nvCxnSpPr>
        <p:spPr>
          <a:xfrm>
            <a:off x="445168" y="733924"/>
            <a:ext cx="111292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6223EEDC-5C11-62B1-0F8B-3CDC1FDDC069}"/>
              </a:ext>
            </a:extLst>
          </p:cNvPr>
          <p:cNvSpPr txBox="1"/>
          <p:nvPr/>
        </p:nvSpPr>
        <p:spPr>
          <a:xfrm>
            <a:off x="340207" y="293384"/>
            <a:ext cx="1170782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Embryo project: clonal composition structure across LCM samples 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CFEF89-73DC-F0E8-EC3D-C8E3EB04E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333" y="1327964"/>
            <a:ext cx="4796112" cy="4796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F98090-6254-D6D1-98BA-E8EBDA478B93}"/>
              </a:ext>
            </a:extLst>
          </p:cNvPr>
          <p:cNvSpPr txBox="1"/>
          <p:nvPr/>
        </p:nvSpPr>
        <p:spPr>
          <a:xfrm>
            <a:off x="6998478" y="3070499"/>
            <a:ext cx="41081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Hierarchically clustered distances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“Some” diagonal-block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obvious clustering structure  </a:t>
            </a:r>
          </a:p>
        </p:txBody>
      </p:sp>
    </p:spTree>
    <p:extLst>
      <p:ext uri="{BB962C8B-B14F-4D97-AF65-F5344CB8AC3E}">
        <p14:creationId xmlns:p14="http://schemas.microsoft.com/office/powerpoint/2010/main" val="2006010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B47DA2F-B218-2089-EA14-ECCAC4EA1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>
            <a:extLst>
              <a:ext uri="{FF2B5EF4-FFF2-40B4-BE49-F238E27FC236}">
                <a16:creationId xmlns:a16="http://schemas.microsoft.com/office/drawing/2014/main" id="{9572BB32-B58B-9A9B-7F02-3DE57FEC6174}"/>
              </a:ext>
            </a:extLst>
          </p:cNvPr>
          <p:cNvCxnSpPr/>
          <p:nvPr/>
        </p:nvCxnSpPr>
        <p:spPr>
          <a:xfrm>
            <a:off x="445168" y="733924"/>
            <a:ext cx="111292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9A5BC1F9-A99D-E0DF-105E-0C70AACFE2DD}"/>
              </a:ext>
            </a:extLst>
          </p:cNvPr>
          <p:cNvSpPr txBox="1"/>
          <p:nvPr/>
        </p:nvSpPr>
        <p:spPr>
          <a:xfrm>
            <a:off x="340207" y="293384"/>
            <a:ext cx="1170782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Embryo project: no “global” correlation between physical and genetic distances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3A4D2B-BDA2-7840-8D7C-9D281338D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588" y="1416424"/>
            <a:ext cx="4594412" cy="45944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4CA459-5784-94C5-02F8-7240FE3ECB2D}"/>
              </a:ext>
            </a:extLst>
          </p:cNvPr>
          <p:cNvSpPr txBox="1"/>
          <p:nvPr/>
        </p:nvSpPr>
        <p:spPr>
          <a:xfrm>
            <a:off x="6730848" y="3251965"/>
            <a:ext cx="41081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(evident) global relationship between pairwise genetic and physical distances</a:t>
            </a:r>
          </a:p>
        </p:txBody>
      </p:sp>
    </p:spTree>
    <p:extLst>
      <p:ext uri="{BB962C8B-B14F-4D97-AF65-F5344CB8AC3E}">
        <p14:creationId xmlns:p14="http://schemas.microsoft.com/office/powerpoint/2010/main" val="2836037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F43AABA3-6A77-88B8-20EA-F58846067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>
            <a:extLst>
              <a:ext uri="{FF2B5EF4-FFF2-40B4-BE49-F238E27FC236}">
                <a16:creationId xmlns:a16="http://schemas.microsoft.com/office/drawing/2014/main" id="{506BDE0B-3C22-15F0-4F0D-271D195F2AEE}"/>
              </a:ext>
            </a:extLst>
          </p:cNvPr>
          <p:cNvCxnSpPr/>
          <p:nvPr/>
        </p:nvCxnSpPr>
        <p:spPr>
          <a:xfrm>
            <a:off x="445168" y="733924"/>
            <a:ext cx="111292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864C640E-18BB-AD50-8177-22D782000B82}"/>
              </a:ext>
            </a:extLst>
          </p:cNvPr>
          <p:cNvSpPr txBox="1"/>
          <p:nvPr/>
        </p:nvSpPr>
        <p:spPr>
          <a:xfrm>
            <a:off x="340207" y="293384"/>
            <a:ext cx="1170782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Embryo project: what about “local” correlation? Agreement of Closeness (AOC) metric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3447D-8F61-CB70-0886-D703BC209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06" y="1214970"/>
            <a:ext cx="7772400" cy="15948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2E0BE0-4745-8114-178C-4E90EBF1B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016" y="3144389"/>
            <a:ext cx="4309690" cy="33105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8D5C12-6D3E-8D31-E6BF-FAA33358BC20}"/>
              </a:ext>
            </a:extLst>
          </p:cNvPr>
          <p:cNvSpPr/>
          <p:nvPr/>
        </p:nvSpPr>
        <p:spPr>
          <a:xfrm>
            <a:off x="864313" y="4093028"/>
            <a:ext cx="717406" cy="22974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E49E6A-28C2-1D28-671C-49ABE227F024}"/>
              </a:ext>
            </a:extLst>
          </p:cNvPr>
          <p:cNvSpPr/>
          <p:nvPr/>
        </p:nvSpPr>
        <p:spPr>
          <a:xfrm>
            <a:off x="1658971" y="2809863"/>
            <a:ext cx="717406" cy="729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5A6752-7C09-0A14-6422-21F7891DF31E}"/>
              </a:ext>
            </a:extLst>
          </p:cNvPr>
          <p:cNvSpPr/>
          <p:nvPr/>
        </p:nvSpPr>
        <p:spPr>
          <a:xfrm>
            <a:off x="5403657" y="2853407"/>
            <a:ext cx="717406" cy="37112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A925DF-E96D-2EB6-0B13-6280AF2457AA}"/>
              </a:ext>
            </a:extLst>
          </p:cNvPr>
          <p:cNvSpPr txBox="1"/>
          <p:nvPr/>
        </p:nvSpPr>
        <p:spPr>
          <a:xfrm>
            <a:off x="6198315" y="3005216"/>
            <a:ext cx="2538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Weng et al., Nature 2024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D45EA-C5CC-E926-9546-0A08A8790589}"/>
              </a:ext>
            </a:extLst>
          </p:cNvPr>
          <p:cNvSpPr txBox="1"/>
          <p:nvPr/>
        </p:nvSpPr>
        <p:spPr>
          <a:xfrm>
            <a:off x="6753426" y="4209115"/>
            <a:ext cx="47898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Are physically proximal LCM samples locally similar in genetic space?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Can we use the AOC metric to associate distances in physical and genetic spaces among LCM samples?</a:t>
            </a:r>
          </a:p>
        </p:txBody>
      </p:sp>
    </p:spTree>
    <p:extLst>
      <p:ext uri="{BB962C8B-B14F-4D97-AF65-F5344CB8AC3E}">
        <p14:creationId xmlns:p14="http://schemas.microsoft.com/office/powerpoint/2010/main" val="337284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109B8EF-A8C0-766B-1AC0-249CA132B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>
            <a:extLst>
              <a:ext uri="{FF2B5EF4-FFF2-40B4-BE49-F238E27FC236}">
                <a16:creationId xmlns:a16="http://schemas.microsoft.com/office/drawing/2014/main" id="{3DC51524-1108-581E-640F-ACDF41647C91}"/>
              </a:ext>
            </a:extLst>
          </p:cNvPr>
          <p:cNvCxnSpPr/>
          <p:nvPr/>
        </p:nvCxnSpPr>
        <p:spPr>
          <a:xfrm>
            <a:off x="445168" y="733924"/>
            <a:ext cx="111292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4CBFBF93-A0A2-D069-099E-92D488E106A3}"/>
              </a:ext>
            </a:extLst>
          </p:cNvPr>
          <p:cNvSpPr txBox="1"/>
          <p:nvPr/>
        </p:nvSpPr>
        <p:spPr>
          <a:xfrm>
            <a:off x="340207" y="293384"/>
            <a:ext cx="1170782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Embryo project: breaking down AOC, in our case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6D5865-CBF5-9080-50BC-1709F0763571}"/>
              </a:ext>
            </a:extLst>
          </p:cNvPr>
          <p:cNvSpPr txBox="1"/>
          <p:nvPr/>
        </p:nvSpPr>
        <p:spPr>
          <a:xfrm>
            <a:off x="445168" y="1712853"/>
            <a:ext cx="47429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Euclidean distances in physical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k-nearest-neighbor (</a:t>
            </a:r>
            <a:r>
              <a:rPr lang="en-US" dirty="0" err="1"/>
              <a:t>kNN</a:t>
            </a:r>
            <a:r>
              <a:rPr lang="en-US" dirty="0"/>
              <a:t>) graph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53BB48-8F87-2BBB-D27F-2105EADF8EEC}"/>
              </a:ext>
            </a:extLst>
          </p:cNvPr>
          <p:cNvSpPr txBox="1"/>
          <p:nvPr/>
        </p:nvSpPr>
        <p:spPr>
          <a:xfrm>
            <a:off x="7536756" y="1712853"/>
            <a:ext cx="403762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 cosine distances in genetic space (VAF mutation space)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D0FD39-8035-1308-3B11-B5B82520559E}"/>
              </a:ext>
            </a:extLst>
          </p:cNvPr>
          <p:cNvSpPr txBox="1"/>
          <p:nvPr/>
        </p:nvSpPr>
        <p:spPr>
          <a:xfrm>
            <a:off x="1437986" y="2854504"/>
            <a:ext cx="9512262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Observed rank</a:t>
            </a:r>
            <a:r>
              <a:rPr lang="en-US" dirty="0"/>
              <a:t>: </a:t>
            </a:r>
            <a:r>
              <a:rPr lang="en-GB" dirty="0"/>
              <a:t>the rank (across all ordered genetic distances for the</a:t>
            </a:r>
            <a:r>
              <a:rPr lang="en-GB" i="1" dirty="0"/>
              <a:t> </a:t>
            </a:r>
            <a:r>
              <a:rPr lang="en-GB" dirty="0"/>
              <a:t>sample </a:t>
            </a:r>
            <a:r>
              <a:rPr lang="en-GB" i="1" dirty="0" err="1"/>
              <a:t>i</a:t>
            </a:r>
            <a:r>
              <a:rPr lang="en-GB" dirty="0"/>
              <a:t>) of the mean genetic distances between sample </a:t>
            </a:r>
            <a:r>
              <a:rPr lang="en-GB" i="1" dirty="0" err="1"/>
              <a:t>i</a:t>
            </a:r>
            <a:r>
              <a:rPr lang="en-GB" dirty="0"/>
              <a:t> and its k nearest </a:t>
            </a:r>
            <a:r>
              <a:rPr lang="en-GB" dirty="0" err="1"/>
              <a:t>neighbors</a:t>
            </a:r>
            <a:r>
              <a:rPr lang="en-GB" dirty="0"/>
              <a:t> in physical space</a:t>
            </a:r>
          </a:p>
          <a:p>
            <a:endParaRPr lang="en-GB" dirty="0"/>
          </a:p>
          <a:p>
            <a:r>
              <a:rPr lang="en-GB" b="1" dirty="0"/>
              <a:t>Random rank</a:t>
            </a:r>
            <a:r>
              <a:rPr lang="en-GB" dirty="0"/>
              <a:t>: the rank (across all ordered genetic distances for sample </a:t>
            </a:r>
            <a:r>
              <a:rPr lang="en-GB" i="1" dirty="0" err="1"/>
              <a:t>i</a:t>
            </a:r>
            <a:r>
              <a:rPr lang="en-GB" i="1" dirty="0"/>
              <a:t>) </a:t>
            </a:r>
            <a:r>
              <a:rPr lang="en-GB" dirty="0"/>
              <a:t>of the mean genetic distances between sample </a:t>
            </a:r>
            <a:r>
              <a:rPr lang="en-GB" i="1" dirty="0" err="1"/>
              <a:t>i</a:t>
            </a:r>
            <a:r>
              <a:rPr lang="en-GB" dirty="0"/>
              <a:t> and a </a:t>
            </a:r>
            <a:r>
              <a:rPr lang="en-GB" i="1" dirty="0"/>
              <a:t>random</a:t>
            </a:r>
            <a:r>
              <a:rPr lang="en-GB" dirty="0"/>
              <a:t> selection of other n=k samples</a:t>
            </a:r>
          </a:p>
          <a:p>
            <a:endParaRPr lang="en-GB" dirty="0"/>
          </a:p>
          <a:p>
            <a:r>
              <a:rPr lang="en-GB" b="1" dirty="0"/>
              <a:t>AOC</a:t>
            </a:r>
            <a:r>
              <a:rPr lang="en-GB" dirty="0"/>
              <a:t>: mean (across n=1000 random trials) difference between random ranks and the observed rank, normalized by the number of total samples. AOC &gt;&gt; 0 </a:t>
            </a:r>
            <a:r>
              <a:rPr lang="en-GB" dirty="0">
                <a:sym typeface="Wingdings" pitchFamily="2" charset="2"/>
              </a:rPr>
              <a:t> random rank &gt;&gt; observed</a:t>
            </a:r>
            <a:endParaRPr lang="en-GB" dirty="0"/>
          </a:p>
          <a:p>
            <a:endParaRPr lang="en-GB" dirty="0"/>
          </a:p>
          <a:p>
            <a:r>
              <a:rPr lang="en-GB" b="1" dirty="0"/>
              <a:t>p value</a:t>
            </a:r>
            <a:r>
              <a:rPr lang="en-GB" dirty="0"/>
              <a:t>: Fraction of trials for which random rank &lt; observed rank </a:t>
            </a:r>
          </a:p>
        </p:txBody>
      </p:sp>
    </p:spTree>
    <p:extLst>
      <p:ext uri="{BB962C8B-B14F-4D97-AF65-F5344CB8AC3E}">
        <p14:creationId xmlns:p14="http://schemas.microsoft.com/office/powerpoint/2010/main" val="1743844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6F965D95-819C-5B35-A239-136A906A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>
            <a:extLst>
              <a:ext uri="{FF2B5EF4-FFF2-40B4-BE49-F238E27FC236}">
                <a16:creationId xmlns:a16="http://schemas.microsoft.com/office/drawing/2014/main" id="{06C9D16F-6BB8-2364-D406-B0EEC0C84044}"/>
              </a:ext>
            </a:extLst>
          </p:cNvPr>
          <p:cNvCxnSpPr/>
          <p:nvPr/>
        </p:nvCxnSpPr>
        <p:spPr>
          <a:xfrm>
            <a:off x="445168" y="733924"/>
            <a:ext cx="111292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00293CFA-BD1E-EDA2-0D88-63C9F4676671}"/>
              </a:ext>
            </a:extLst>
          </p:cNvPr>
          <p:cNvSpPr txBox="1"/>
          <p:nvPr/>
        </p:nvSpPr>
        <p:spPr>
          <a:xfrm>
            <a:off x="340207" y="293384"/>
            <a:ext cx="1170782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Embryo project: Physically proximal LCM samples show significantly similar clonal composition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7E1DAD-CBD9-5D30-A8AF-B19736847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124" y="1030418"/>
            <a:ext cx="8301297" cy="553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057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21D60233-DA6D-C407-8611-F9AD4EC59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>
            <a:extLst>
              <a:ext uri="{FF2B5EF4-FFF2-40B4-BE49-F238E27FC236}">
                <a16:creationId xmlns:a16="http://schemas.microsoft.com/office/drawing/2014/main" id="{60F1A8C1-EBB0-DD47-48AA-7E245BC5A06D}"/>
              </a:ext>
            </a:extLst>
          </p:cNvPr>
          <p:cNvCxnSpPr/>
          <p:nvPr/>
        </p:nvCxnSpPr>
        <p:spPr>
          <a:xfrm>
            <a:off x="445168" y="733924"/>
            <a:ext cx="111292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5ADA3BE1-42DC-182B-FC93-DDEC62EBF63E}"/>
              </a:ext>
            </a:extLst>
          </p:cNvPr>
          <p:cNvSpPr txBox="1"/>
          <p:nvPr/>
        </p:nvSpPr>
        <p:spPr>
          <a:xfrm>
            <a:off x="340207" y="293384"/>
            <a:ext cx="1170782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Embryo project: physical and genetic dissimilarity in kidney’s anatomical substructures 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AC6E43-2D61-9CFD-2168-9725168F9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128" y="1658159"/>
            <a:ext cx="3827929" cy="4465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B7723F-B192-2228-CB5A-38ED652F2CB1}"/>
              </a:ext>
            </a:extLst>
          </p:cNvPr>
          <p:cNvSpPr txBox="1"/>
          <p:nvPr/>
        </p:nvSpPr>
        <p:spPr>
          <a:xfrm>
            <a:off x="6096000" y="3105834"/>
            <a:ext cx="4789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 AOC differences among kidney’s anatomical regions</a:t>
            </a:r>
          </a:p>
        </p:txBody>
      </p:sp>
    </p:spTree>
    <p:extLst>
      <p:ext uri="{BB962C8B-B14F-4D97-AF65-F5344CB8AC3E}">
        <p14:creationId xmlns:p14="http://schemas.microsoft.com/office/powerpoint/2010/main" val="2925502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C4FF0D46-F55A-AC7F-41FE-BBCA5F370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>
            <a:extLst>
              <a:ext uri="{FF2B5EF4-FFF2-40B4-BE49-F238E27FC236}">
                <a16:creationId xmlns:a16="http://schemas.microsoft.com/office/drawing/2014/main" id="{31958A1D-3961-D47B-A257-AFC0E1281B21}"/>
              </a:ext>
            </a:extLst>
          </p:cNvPr>
          <p:cNvCxnSpPr/>
          <p:nvPr/>
        </p:nvCxnSpPr>
        <p:spPr>
          <a:xfrm>
            <a:off x="445168" y="733924"/>
            <a:ext cx="111292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C97DEF5D-2268-CDC4-4362-06562D0FE064}"/>
              </a:ext>
            </a:extLst>
          </p:cNvPr>
          <p:cNvSpPr txBox="1"/>
          <p:nvPr/>
        </p:nvSpPr>
        <p:spPr>
          <a:xfrm>
            <a:off x="340207" y="293384"/>
            <a:ext cx="117078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EMBO proposal: what we would like do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C850FC-0294-54F0-0F47-AAB2FC37771B}"/>
              </a:ext>
            </a:extLst>
          </p:cNvPr>
          <p:cNvSpPr txBox="1"/>
          <p:nvPr/>
        </p:nvSpPr>
        <p:spPr>
          <a:xfrm>
            <a:off x="0" y="3126117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Chemotherapy-induced changes in immune cells epigenome </a:t>
            </a:r>
          </a:p>
          <a:p>
            <a:pPr algn="ctr"/>
            <a:r>
              <a:rPr lang="en-GB" sz="2400" b="1" dirty="0"/>
              <a:t>and long-term effects in childhood cancer survivors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27558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FD9F23D-CAB4-6608-8409-945F76D3F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>
            <a:extLst>
              <a:ext uri="{FF2B5EF4-FFF2-40B4-BE49-F238E27FC236}">
                <a16:creationId xmlns:a16="http://schemas.microsoft.com/office/drawing/2014/main" id="{ED98F7F3-3F81-EE39-ADA8-9B7F11271A39}"/>
              </a:ext>
            </a:extLst>
          </p:cNvPr>
          <p:cNvCxnSpPr/>
          <p:nvPr/>
        </p:nvCxnSpPr>
        <p:spPr>
          <a:xfrm>
            <a:off x="445168" y="733924"/>
            <a:ext cx="111292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D74AC296-C717-06BC-E019-B6C6CE8F877B}"/>
              </a:ext>
            </a:extLst>
          </p:cNvPr>
          <p:cNvSpPr txBox="1"/>
          <p:nvPr/>
        </p:nvSpPr>
        <p:spPr>
          <a:xfrm>
            <a:off x="340207" y="293384"/>
            <a:ext cx="117078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EMBO proposal: summary, pt I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A5C55B-65F9-8823-0223-A15C6D4F6169}"/>
              </a:ext>
            </a:extLst>
          </p:cNvPr>
          <p:cNvSpPr txBox="1"/>
          <p:nvPr/>
        </p:nvSpPr>
        <p:spPr>
          <a:xfrm>
            <a:off x="445167" y="1164700"/>
            <a:ext cx="1112921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Chemo: still an unavoidable option of cancer treatment. Systemic cytotoxicity: normal tissue damage and long-term side-effects. Unknown cellular and molecular mechanisms.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Mitchell et all., 2024 </a:t>
            </a:r>
            <a:r>
              <a:rPr lang="en-US" dirty="0"/>
              <a:t>and </a:t>
            </a:r>
            <a:r>
              <a:rPr lang="en-US" b="1" dirty="0"/>
              <a:t>Pitch et al., 2025</a:t>
            </a:r>
            <a:r>
              <a:rPr lang="en-US" dirty="0"/>
              <a:t>: treatment-specific effects of chemo-agents on somatic landscapes (mutational signatures, burden, driver selection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DNA-damage and epigenetic de-regulation: aging hallmarks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Immune system (proteomic) age acceleration, alone: mortality and aging-related pathology biomarker (</a:t>
            </a:r>
            <a:r>
              <a:rPr lang="en-US" b="1" dirty="0"/>
              <a:t>See-Hwee Hoo et al., 2025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Causal links between DNA damage and CpG de-methylation (</a:t>
            </a:r>
            <a:r>
              <a:rPr lang="en-US" b="1" dirty="0"/>
              <a:t>Koch et al. 2025</a:t>
            </a:r>
            <a:r>
              <a:rPr lang="en-US" dirty="0"/>
              <a:t>)</a:t>
            </a:r>
          </a:p>
          <a:p>
            <a:endParaRPr lang="en-US" b="1" dirty="0"/>
          </a:p>
          <a:p>
            <a:r>
              <a:rPr lang="en-US" b="1" dirty="0"/>
              <a:t>Motivation</a:t>
            </a:r>
            <a:endParaRPr lang="en-US" dirty="0"/>
          </a:p>
          <a:p>
            <a:r>
              <a:rPr lang="en-US" dirty="0"/>
              <a:t>Understanding chemo effects require integrated characterization of changes in cell type composition, clonal and somatic landscapes, and epigenetic re-wiring of normal tissues</a:t>
            </a:r>
          </a:p>
          <a:p>
            <a:endParaRPr lang="en-US" b="1" dirty="0"/>
          </a:p>
          <a:p>
            <a:r>
              <a:rPr lang="en-US" b="1" dirty="0"/>
              <a:t>Main hypothesis</a:t>
            </a:r>
          </a:p>
          <a:p>
            <a:endParaRPr lang="en-US" b="1" dirty="0"/>
          </a:p>
          <a:p>
            <a:pPr algn="ctr"/>
            <a:r>
              <a:rPr lang="en-US" dirty="0">
                <a:solidFill>
                  <a:srgbClr val="C00000"/>
                </a:solidFill>
              </a:rPr>
              <a:t>        Due to its high relevance and samples/data availability, </a:t>
            </a:r>
            <a:r>
              <a:rPr lang="en-US" b="1" dirty="0">
                <a:solidFill>
                  <a:srgbClr val="C00000"/>
                </a:solidFill>
              </a:rPr>
              <a:t>we will start from blood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Chemo reshuffles all of the above, causing “aging-like” phenotypes in normal tissues that are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 responsible for long-term side chemo effects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464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57F718A-A217-30F2-E28B-19EC40695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>
            <a:extLst>
              <a:ext uri="{FF2B5EF4-FFF2-40B4-BE49-F238E27FC236}">
                <a16:creationId xmlns:a16="http://schemas.microsoft.com/office/drawing/2014/main" id="{487B9635-D238-B7E7-491C-D7EF7F9FA6D3}"/>
              </a:ext>
            </a:extLst>
          </p:cNvPr>
          <p:cNvCxnSpPr/>
          <p:nvPr/>
        </p:nvCxnSpPr>
        <p:spPr>
          <a:xfrm>
            <a:off x="445168" y="733924"/>
            <a:ext cx="111292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C18283DC-CD5E-BC88-C610-3A6FCEB22672}"/>
              </a:ext>
            </a:extLst>
          </p:cNvPr>
          <p:cNvSpPr txBox="1"/>
          <p:nvPr/>
        </p:nvSpPr>
        <p:spPr>
          <a:xfrm>
            <a:off x="340207" y="293384"/>
            <a:ext cx="117078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EMBO proposal: summary, pt II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ECD4F7-B71E-87BE-ED77-DCCB706AF083}"/>
              </a:ext>
            </a:extLst>
          </p:cNvPr>
          <p:cNvSpPr txBox="1"/>
          <p:nvPr/>
        </p:nvSpPr>
        <p:spPr>
          <a:xfrm>
            <a:off x="445167" y="1120095"/>
            <a:ext cx="1112921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Strategy, in 5 aims:</a:t>
            </a:r>
          </a:p>
          <a:p>
            <a:endParaRPr lang="en-US" b="1" dirty="0"/>
          </a:p>
          <a:p>
            <a:pPr lvl="0"/>
            <a:r>
              <a:rPr lang="en-GB" b="1" dirty="0"/>
              <a:t>Aim I (months 1-12)</a:t>
            </a:r>
            <a:r>
              <a:rPr lang="en-GB" dirty="0"/>
              <a:t>: generate longitudinally matched genomic and epigenomic data for a clinically relevant subset of the </a:t>
            </a:r>
            <a:r>
              <a:rPr lang="en-GB" b="1" dirty="0"/>
              <a:t>VIVO biobank</a:t>
            </a:r>
            <a:r>
              <a:rPr lang="en-GB" i="1" dirty="0"/>
              <a:t>.</a:t>
            </a:r>
          </a:p>
          <a:p>
            <a:pPr lvl="0"/>
            <a:r>
              <a:rPr lang="en-GB" i="1" dirty="0"/>
              <a:t> </a:t>
            </a:r>
            <a:endParaRPr lang="en-GB" dirty="0"/>
          </a:p>
          <a:p>
            <a:pPr lvl="0"/>
            <a:r>
              <a:rPr lang="en-GB" b="1" dirty="0"/>
              <a:t>Aim II (months 6-18)</a:t>
            </a:r>
            <a:r>
              <a:rPr lang="en-GB" dirty="0"/>
              <a:t>: quantify changes in somatic mutation (i.e., SNVs and INDELs) burden, selected genes, clonal expansions, </a:t>
            </a:r>
            <a:r>
              <a:rPr lang="en-GB" b="1" dirty="0"/>
              <a:t>cell type composition</a:t>
            </a:r>
            <a:r>
              <a:rPr lang="en-GB" dirty="0"/>
              <a:t>, and </a:t>
            </a:r>
            <a:r>
              <a:rPr lang="en-GB" b="1" dirty="0"/>
              <a:t>aging rates </a:t>
            </a:r>
            <a:r>
              <a:rPr lang="en-GB" dirty="0"/>
              <a:t>driven by different chemotherapy agents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Aim III (months 8-24)</a:t>
            </a:r>
            <a:r>
              <a:rPr lang="en-GB" dirty="0"/>
              <a:t>: map the changes from Aim III to known regulatory elements, genes, gene expression programs and pathways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Aim IV (months 12-24 and future work)</a:t>
            </a:r>
            <a:r>
              <a:rPr lang="en-GB" dirty="0"/>
              <a:t>: generate </a:t>
            </a:r>
            <a:r>
              <a:rPr lang="en-GB" b="1" dirty="0"/>
              <a:t>single-cell multi-omics data </a:t>
            </a:r>
            <a:r>
              <a:rPr lang="en-GB" dirty="0"/>
              <a:t>(i.e., </a:t>
            </a:r>
            <a:r>
              <a:rPr lang="en-GB" b="1" dirty="0"/>
              <a:t>targeted proteomic, </a:t>
            </a:r>
            <a:r>
              <a:rPr lang="en-GB" b="1" dirty="0" err="1"/>
              <a:t>DNAm</a:t>
            </a:r>
            <a:r>
              <a:rPr lang="en-GB" b="1" dirty="0"/>
              <a:t>, and SNVs</a:t>
            </a:r>
            <a:r>
              <a:rPr lang="en-GB" dirty="0"/>
              <a:t>) to link chemotherapy-associated somatic mutation and </a:t>
            </a:r>
            <a:r>
              <a:rPr lang="en-GB" dirty="0" err="1"/>
              <a:t>DNAm</a:t>
            </a:r>
            <a:r>
              <a:rPr lang="en-GB" dirty="0"/>
              <a:t> events in their cell type context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Aim V (months 18-24 future work)</a:t>
            </a:r>
            <a:r>
              <a:rPr lang="en-GB" dirty="0"/>
              <a:t>: </a:t>
            </a:r>
            <a:r>
              <a:rPr lang="en-GB" b="1" dirty="0"/>
              <a:t>Validate</a:t>
            </a:r>
            <a:r>
              <a:rPr lang="en-GB" dirty="0"/>
              <a:t> some of the findings of Aim II-IV (i.e., related to hematopoietic tissue) in the </a:t>
            </a:r>
            <a:r>
              <a:rPr lang="en-GB" b="1" dirty="0"/>
              <a:t>UK biobank</a:t>
            </a:r>
            <a:r>
              <a:rPr lang="en-GB" dirty="0"/>
              <a:t>, leveraging whole genome sequencing and targeted methylation data along with rich clinical annotation (before sample collection, and at follow-up)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447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CDAE8B38-3011-4898-8F0D-0816F882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>
            <a:extLst>
              <a:ext uri="{FF2B5EF4-FFF2-40B4-BE49-F238E27FC236}">
                <a16:creationId xmlns:a16="http://schemas.microsoft.com/office/drawing/2014/main" id="{899343F6-050D-D058-A729-C5223A061EF0}"/>
              </a:ext>
            </a:extLst>
          </p:cNvPr>
          <p:cNvCxnSpPr/>
          <p:nvPr/>
        </p:nvCxnSpPr>
        <p:spPr>
          <a:xfrm>
            <a:off x="445168" y="733924"/>
            <a:ext cx="111292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9A186330-7FBF-572A-9DF5-2ACCA0F792BB}"/>
              </a:ext>
            </a:extLst>
          </p:cNvPr>
          <p:cNvSpPr txBox="1"/>
          <p:nvPr/>
        </p:nvSpPr>
        <p:spPr>
          <a:xfrm>
            <a:off x="340207" y="293384"/>
            <a:ext cx="117078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 IV focus </a:t>
            </a:r>
            <a:r>
              <a:rPr lang="en-GB" sz="2000" b="1" dirty="0"/>
              <a:t>single-cell multi-omics data</a:t>
            </a: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GB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DNAm</a:t>
            </a: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SNVs + protein abundance) 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0831C5-AFBD-1867-069A-44AEABBF1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414972"/>
            <a:ext cx="7772400" cy="470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470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6B766B73-E9A6-3784-16BC-6493A6B0E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>
            <a:extLst>
              <a:ext uri="{FF2B5EF4-FFF2-40B4-BE49-F238E27FC236}">
                <a16:creationId xmlns:a16="http://schemas.microsoft.com/office/drawing/2014/main" id="{A45B7638-6009-A989-DC35-8A43BFFD928D}"/>
              </a:ext>
            </a:extLst>
          </p:cNvPr>
          <p:cNvCxnSpPr/>
          <p:nvPr/>
        </p:nvCxnSpPr>
        <p:spPr>
          <a:xfrm>
            <a:off x="445168" y="733924"/>
            <a:ext cx="111292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CCCEF0CC-17C1-4D16-02B2-4839EA282CC4}"/>
              </a:ext>
            </a:extLst>
          </p:cNvPr>
          <p:cNvSpPr txBox="1"/>
          <p:nvPr/>
        </p:nvSpPr>
        <p:spPr>
          <a:xfrm>
            <a:off x="340207" y="293384"/>
            <a:ext cx="117078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 IV focus </a:t>
            </a:r>
            <a:r>
              <a:rPr lang="en-GB" sz="2000" b="1" dirty="0"/>
              <a:t>single-cell multi-omics data</a:t>
            </a: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GB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DNAm</a:t>
            </a: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SNVs + protein abundance) 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D5A770-EDEA-D8C6-1EC2-A637F71FA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46" y="2224668"/>
            <a:ext cx="10506307" cy="21881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254C0E-43DF-7E68-381C-987F1008CB46}"/>
              </a:ext>
            </a:extLst>
          </p:cNvPr>
          <p:cNvSpPr/>
          <p:nvPr/>
        </p:nvSpPr>
        <p:spPr>
          <a:xfrm>
            <a:off x="842846" y="2051824"/>
            <a:ext cx="506452" cy="3456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F32A9-CB42-AE89-080C-B4C7BAF13C4B}"/>
              </a:ext>
            </a:extLst>
          </p:cNvPr>
          <p:cNvSpPr txBox="1"/>
          <p:nvPr/>
        </p:nvSpPr>
        <p:spPr>
          <a:xfrm>
            <a:off x="4449337" y="1546174"/>
            <a:ext cx="373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scTAM</a:t>
            </a:r>
            <a:r>
              <a:rPr lang="en-US" dirty="0"/>
              <a:t> and </a:t>
            </a:r>
            <a:r>
              <a:rPr lang="en-US" dirty="0" err="1"/>
              <a:t>scTAM</a:t>
            </a:r>
            <a:r>
              <a:rPr lang="en-US" dirty="0"/>
              <a:t>(ARA)-seq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B53E9D-4C5F-330E-15D0-9836E3A89BFC}"/>
              </a:ext>
            </a:extLst>
          </p:cNvPr>
          <p:cNvSpPr/>
          <p:nvPr/>
        </p:nvSpPr>
        <p:spPr>
          <a:xfrm>
            <a:off x="925551" y="2397512"/>
            <a:ext cx="334537" cy="278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20A34-1175-EFB8-E515-6788C9475BA1}"/>
              </a:ext>
            </a:extLst>
          </p:cNvPr>
          <p:cNvSpPr txBox="1"/>
          <p:nvPr/>
        </p:nvSpPr>
        <p:spPr>
          <a:xfrm>
            <a:off x="-16727" y="4980224"/>
            <a:ext cx="122087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err="1"/>
              <a:t>Tapestri</a:t>
            </a:r>
            <a:r>
              <a:rPr lang="en-US" dirty="0"/>
              <a:t> (Mission Bio)-based single-cell multi-</a:t>
            </a:r>
            <a:r>
              <a:rPr lang="en-US" dirty="0" err="1"/>
              <a:t>omic</a:t>
            </a:r>
            <a:r>
              <a:rPr lang="en-US" dirty="0"/>
              <a:t> platform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Simultaneous measurement of up to 1000 genomic features (SNVs, </a:t>
            </a:r>
            <a:r>
              <a:rPr lang="en-US" dirty="0" err="1"/>
              <a:t>DNAm</a:t>
            </a:r>
            <a:r>
              <a:rPr lang="en-US" dirty="0"/>
              <a:t> features) </a:t>
            </a:r>
          </a:p>
          <a:p>
            <a:pPr algn="ctr"/>
            <a:r>
              <a:rPr lang="en-US" dirty="0"/>
              <a:t>     + protein (Ab based) abundance  </a:t>
            </a:r>
          </a:p>
        </p:txBody>
      </p:sp>
    </p:spTree>
    <p:extLst>
      <p:ext uri="{BB962C8B-B14F-4D97-AF65-F5344CB8AC3E}">
        <p14:creationId xmlns:p14="http://schemas.microsoft.com/office/powerpoint/2010/main" val="9301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360EF9E6-DF85-16DD-F302-FEDD1E21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>
            <a:extLst>
              <a:ext uri="{FF2B5EF4-FFF2-40B4-BE49-F238E27FC236}">
                <a16:creationId xmlns:a16="http://schemas.microsoft.com/office/drawing/2014/main" id="{F8196CB7-2DBC-C095-7A22-966A2A3521EB}"/>
              </a:ext>
            </a:extLst>
          </p:cNvPr>
          <p:cNvCxnSpPr/>
          <p:nvPr/>
        </p:nvCxnSpPr>
        <p:spPr>
          <a:xfrm>
            <a:off x="445168" y="733924"/>
            <a:ext cx="111292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76F96338-AFB2-6C88-86FE-1C16E6E4E62C}"/>
              </a:ext>
            </a:extLst>
          </p:cNvPr>
          <p:cNvSpPr txBox="1"/>
          <p:nvPr/>
        </p:nvSpPr>
        <p:spPr>
          <a:xfrm>
            <a:off x="340207" y="293384"/>
            <a:ext cx="117078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 IV focus: </a:t>
            </a:r>
            <a:r>
              <a:rPr lang="en-GB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scTAM-seq</a:t>
            </a: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sequencing requirement and scalability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B813F8-33AD-8648-3E02-265DA2A8E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405" y="3396874"/>
            <a:ext cx="10311974" cy="18999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58CF67-618D-A162-FA48-7B08D91FE404}"/>
              </a:ext>
            </a:extLst>
          </p:cNvPr>
          <p:cNvSpPr txBox="1"/>
          <p:nvPr/>
        </p:nvSpPr>
        <p:spPr>
          <a:xfrm>
            <a:off x="3111190" y="1828800"/>
            <a:ext cx="68022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the publicly available protocol: </a:t>
            </a:r>
            <a:r>
              <a:rPr lang="en-US" dirty="0">
                <a:hlinkClick r:id="rId4"/>
              </a:rPr>
              <a:t>https://www.protocols.io/view/epi-clone-clonal-tracing-with-somatic-epimutations-4r3l29dzjv1y/v1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0298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2401E293-C0F1-A1B2-5545-BFCF15EDF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>
            <a:extLst>
              <a:ext uri="{FF2B5EF4-FFF2-40B4-BE49-F238E27FC236}">
                <a16:creationId xmlns:a16="http://schemas.microsoft.com/office/drawing/2014/main" id="{BA126745-2A0D-833F-5FD3-33A4DAB32D13}"/>
              </a:ext>
            </a:extLst>
          </p:cNvPr>
          <p:cNvCxnSpPr/>
          <p:nvPr/>
        </p:nvCxnSpPr>
        <p:spPr>
          <a:xfrm>
            <a:off x="445168" y="733924"/>
            <a:ext cx="1112921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4ADA1A1A-34F4-DA9A-2103-CD4DFD2A9A2D}"/>
              </a:ext>
            </a:extLst>
          </p:cNvPr>
          <p:cNvSpPr txBox="1"/>
          <p:nvPr/>
        </p:nvSpPr>
        <p:spPr>
          <a:xfrm>
            <a:off x="340207" y="293384"/>
            <a:ext cx="117078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EMBO proposal: summary, pt III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8670A-1F31-ADEE-A034-24412CC152AB}"/>
              </a:ext>
            </a:extLst>
          </p:cNvPr>
          <p:cNvSpPr txBox="1"/>
          <p:nvPr/>
        </p:nvSpPr>
        <p:spPr>
          <a:xfrm>
            <a:off x="445168" y="1343120"/>
            <a:ext cx="1112921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Detailed and comprehensive characterization of chemo-related effects on the immune cell landscape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the age acceleration hypothesis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Mechanistic, single-cell level insights about the interplay between somatic mutations and methylome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Clinical association of epigenomic features and patients’ histories: biomarker development of chemo-related toxicity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Comparison between childhood and adults’ malignancies: does the age context matter?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492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8469</TotalTime>
  <Words>943</Words>
  <Application>Microsoft Macintosh PowerPoint</Application>
  <PresentationFormat>Widescreen</PresentationFormat>
  <Paragraphs>90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Cossa</dc:creator>
  <cp:lastModifiedBy>Andrea Cossa</cp:lastModifiedBy>
  <cp:revision>89</cp:revision>
  <dcterms:created xsi:type="dcterms:W3CDTF">2026-01-15T17:54:51Z</dcterms:created>
  <dcterms:modified xsi:type="dcterms:W3CDTF">2026-01-21T15:04:03Z</dcterms:modified>
</cp:coreProperties>
</file>